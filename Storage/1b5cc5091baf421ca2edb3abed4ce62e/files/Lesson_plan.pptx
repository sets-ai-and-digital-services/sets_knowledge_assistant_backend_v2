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7bfe8cb08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7bfe8cb0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7bfe8cb08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7bfe8cb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7bfe8cb0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7bfe8cb0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7bfe8cb08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7bfe8cb0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7bfe8cb0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7bfe8cb0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7bfe8cb0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7bfe8cb0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7bfe8cb0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7bfe8cb0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7bfe8cb0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7bfe8cb0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7bfe8cb0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7bfe8cb0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7bfe8cb0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7bfe8cb0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7bfe8cb0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7bfe8cb0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7bfe8cb0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7bfe8cb0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Explanation:</a:t>
            </a:r>
            <a:r>
              <a:rPr lang="en">
                <a:solidFill>
                  <a:schemeClr val="dk1"/>
                </a:solidFill>
              </a:rPr>
              <a:t> Delegated events are essential when working with dynamic content that’s added after the page loads.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7bfe8cb0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7bfe8cb0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7bfe8cb08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7bfe8cb0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7bfe8cb0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7bfe8cb0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Explanation:</a:t>
            </a:r>
            <a:r>
              <a:rPr lang="en">
                <a:solidFill>
                  <a:schemeClr val="dk1"/>
                </a:solidFill>
              </a:rPr>
              <a:t> Delegated events are essential when working with dynamic content that’s added after the page loads.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7bfe8cb0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7bfe8cb0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7bfe8cb08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7bfe8cb08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7bfe8cb0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7bfe8cb0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7bfe8cb08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7bfe8cb0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7bfe8cb08_0_2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7bfe8cb0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7bfe8cb0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7bfe8cb0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7bfe8cb0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7bfe8cb0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7bfe8cb0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57bfe8cb0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7bfe8cb08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7bfe8cb0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7bfe8cb08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7bfe8cb0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jquery.com" TargetMode="External"/><Relationship Id="rId4" Type="http://schemas.openxmlformats.org/officeDocument/2006/relationships/hyperlink" Target="https://jquery.com" TargetMode="External"/><Relationship Id="rId5" Type="http://schemas.openxmlformats.org/officeDocument/2006/relationships/hyperlink" Target="https://api.jquery.com" TargetMode="External"/><Relationship Id="rId6" Type="http://schemas.openxmlformats.org/officeDocument/2006/relationships/hyperlink" Target="https://jquery.com" TargetMode="External"/><Relationship Id="rId7" Type="http://schemas.openxmlformats.org/officeDocument/2006/relationships/hyperlink" Target="https://api.jquery.com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jsonplaceholder.typicode.com/user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jquery.com" TargetMode="External"/><Relationship Id="rId4" Type="http://schemas.openxmlformats.org/officeDocument/2006/relationships/hyperlink" Target="https://api.jquery.com" TargetMode="External"/><Relationship Id="rId5" Type="http://schemas.openxmlformats.org/officeDocument/2006/relationships/hyperlink" Target="https://htmlcheatsheet.com/jquery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Lesson: </a:t>
            </a:r>
            <a:r>
              <a:rPr lang="en"/>
              <a:t>Mastering jQuery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15, 2025</a:t>
            </a: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275" y="1033075"/>
            <a:ext cx="2314575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ctrTitle"/>
          </p:nvPr>
        </p:nvSpPr>
        <p:spPr>
          <a:xfrm>
            <a:off x="244500" y="663000"/>
            <a:ext cx="40758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Let's Know Each Other</a:t>
            </a:r>
            <a:endParaRPr sz="2500"/>
          </a:p>
        </p:txBody>
      </p:sp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357800" y="1504900"/>
            <a:ext cx="3762300" cy="3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I’m Gehad Samy, Senior Software Engineer at SETS intil</a:t>
            </a:r>
            <a:endParaRPr sz="20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Introduce yourself and a neighbor!</a:t>
            </a:r>
            <a:br>
              <a:rPr lang="en" sz="20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Tell us your name, role, and why you’re here</a:t>
            </a:r>
            <a:endParaRPr sz="20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6" name="Google Shape;76;p14" title="Image_20250513_181415_00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300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&amp; Agenda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939500" y="360450"/>
            <a:ext cx="3837000" cy="43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Agenda: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First 3 Hours: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Theory &amp; Concepts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Introduction to jQuery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Core Syntax &amp; Selectors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DOM Manipulation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Events Handling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AJAX &amp; Effects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Next 3 Hours: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Practical Lab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Guided exercises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Mini project implementation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Debugging and Q&amp;A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jQuery?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60950" y="1886450"/>
            <a:ext cx="8222100" cy="25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fast, small, and feature-rich JavaScript library.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Simplifies tasks like HTML document traversal, event handling, and AJAX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in 2006 by John Resig.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the most popular JS library before the rise of modern frameworks.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Plays a major role in legacy systems and simpler frontend setups.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CMS plugins (WordPress)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jQuery?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60950" y="1733350"/>
            <a:ext cx="8683200" cy="3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syntax </a:t>
            </a:r>
            <a:r>
              <a:rPr lang="en">
                <a:highlight>
                  <a:srgbClr val="ECECEC"/>
                </a:highlight>
              </a:rPr>
              <a:t>($("#id")</a:t>
            </a:r>
            <a:r>
              <a:rPr lang="en"/>
              <a:t>, </a:t>
            </a:r>
            <a:r>
              <a:rPr lang="en">
                <a:highlight>
                  <a:srgbClr val="ECECEC"/>
                </a:highlight>
              </a:rPr>
              <a:t>$(".class")</a:t>
            </a:r>
            <a:r>
              <a:rPr lang="en"/>
              <a:t>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Cross-browser compatibility without writing polyfills.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Powerful chaining for cleaner, fluent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Rich plugin ecosystem for features like carousels, modals, and form validation.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b="1" lang="en"/>
              <a:t>till useful in: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Legacy enterprise applications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Quick prototypes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Lightweight projects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Including jQuery</a:t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158700" y="929925"/>
            <a:ext cx="8826600" cy="3478500"/>
          </a:xfrm>
          <a:prstGeom prst="rect">
            <a:avLst/>
          </a:prstGeom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Option 1: </a:t>
            </a:r>
            <a:r>
              <a:rPr lang="en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Use a CDN</a:t>
            </a:r>
            <a:br>
              <a:rPr b="1" lang="en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7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Option 2:</a:t>
            </a:r>
            <a:r>
              <a:rPr lang="en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Host it locally</a:t>
            </a:r>
            <a:endParaRPr sz="17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Ensure your code runs after the DOM loads: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872700" y="1461904"/>
            <a:ext cx="7277700" cy="3372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script src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="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https://code.jquery.com/jquery-3.6.0.min.js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"&gt;&lt;/</a:t>
            </a: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script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933150" y="2403151"/>
            <a:ext cx="7277700" cy="3372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script src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="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/js/jquery.min.js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"&gt;&lt;/</a:t>
            </a: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script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933150" y="3294525"/>
            <a:ext cx="7277700" cy="8421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$(document).ready(function() {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// your code here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Selectors &amp; Chaining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60950" y="1733350"/>
            <a:ext cx="8222100" cy="31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Are jQuery Selectors?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jQuery selectors are used to "find" or select HTML elements based on their name, id, classes, types, attributes, values, and more.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are modeled after CSS selectors but allow for richer querying and interaction.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524125" y="363200"/>
            <a:ext cx="8329800" cy="4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Common Selector Types:</a:t>
            </a:r>
            <a:endParaRPr b="1" sz="1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ID Selector:</a:t>
            </a:r>
            <a:r>
              <a:rPr lang="en" sz="1600">
                <a:solidFill>
                  <a:schemeClr val="lt2"/>
                </a:solidFill>
              </a:rPr>
              <a:t> Targets an element with a specific ID.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Class Selector:</a:t>
            </a:r>
            <a:r>
              <a:rPr lang="en" sz="1600">
                <a:solidFill>
                  <a:schemeClr val="lt2"/>
                </a:solidFill>
              </a:rPr>
              <a:t> Targets all elements with a specific class.</a:t>
            </a:r>
            <a:br>
              <a:rPr lang="en" sz="1600">
                <a:solidFill>
                  <a:schemeClr val="lt2"/>
                </a:solidFill>
              </a:rPr>
            </a:br>
            <a:br>
              <a:rPr lang="en" sz="1600">
                <a:solidFill>
                  <a:schemeClr val="lt2"/>
                </a:solidFill>
              </a:rPr>
            </a:b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Tag Selector:</a:t>
            </a:r>
            <a:r>
              <a:rPr lang="en" sz="1600">
                <a:solidFill>
                  <a:schemeClr val="lt2"/>
                </a:solidFill>
              </a:rPr>
              <a:t> Targets all elements of a particular type.</a:t>
            </a:r>
            <a:br>
              <a:rPr lang="en" sz="1600">
                <a:solidFill>
                  <a:schemeClr val="lt2"/>
                </a:solidFill>
              </a:rPr>
            </a:br>
            <a:br>
              <a:rPr lang="en" sz="1600">
                <a:solidFill>
                  <a:schemeClr val="lt2"/>
                </a:solidFill>
              </a:rPr>
            </a:b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Compound/Filtered Selectors:</a:t>
            </a:r>
            <a:r>
              <a:rPr lang="en" sz="1600">
                <a:solidFill>
                  <a:schemeClr val="lt2"/>
                </a:solidFill>
              </a:rPr>
              <a:t> Target nested or specific elements.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2292425" y="1233100"/>
            <a:ext cx="4266900" cy="435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$("#header") </a:t>
            </a:r>
            <a:r>
              <a:rPr lang="en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// selects element with id="header"</a:t>
            </a:r>
            <a:endParaRPr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962450" y="2093175"/>
            <a:ext cx="5219100" cy="435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$(".highlight") </a:t>
            </a:r>
            <a:r>
              <a:rPr lang="en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// selects all elements with class="highlight"</a:t>
            </a:r>
            <a:endParaRPr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1962450" y="2903450"/>
            <a:ext cx="5219100" cy="435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$("p") </a:t>
            </a:r>
            <a:r>
              <a:rPr lang="en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// selects all &lt;p&gt; tags</a:t>
            </a:r>
            <a:endParaRPr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1886475" y="3844250"/>
            <a:ext cx="5219100" cy="912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$("ul li:first") </a:t>
            </a:r>
            <a:r>
              <a:rPr lang="en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// first &lt;li&gt; in every &lt;ul&gt;</a:t>
            </a:r>
            <a:endParaRPr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$("div:visible") </a:t>
            </a:r>
            <a:r>
              <a:rPr lang="en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// all visible &lt;div&gt;s</a:t>
            </a:r>
            <a:endParaRPr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4294967295" type="body"/>
          </p:nvPr>
        </p:nvSpPr>
        <p:spPr>
          <a:xfrm>
            <a:off x="460950" y="863400"/>
            <a:ext cx="8222100" cy="38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Chaining?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Chaining means calling multiple jQuery methods on the same selector in a single statement.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leads to cleaner, more readable, and performant code.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Chaining Example: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500"/>
          </a:p>
        </p:txBody>
      </p:sp>
      <p:sp>
        <p:nvSpPr>
          <p:cNvPr id="124" name="Google Shape;124;p21"/>
          <p:cNvSpPr/>
          <p:nvPr/>
        </p:nvSpPr>
        <p:spPr>
          <a:xfrm>
            <a:off x="1962450" y="3114375"/>
            <a:ext cx="5219100" cy="14136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$("#notice")</a:t>
            </a:r>
            <a:endParaRPr>
              <a:solidFill>
                <a:srgbClr val="2D78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  .addClass("active")</a:t>
            </a:r>
            <a:endParaRPr>
              <a:solidFill>
                <a:srgbClr val="2D78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  .css("color", "green")</a:t>
            </a:r>
            <a:endParaRPr>
              <a:solidFill>
                <a:srgbClr val="2D78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D78AA"/>
                </a:solidFill>
                <a:latin typeface="Roboto"/>
                <a:ea typeface="Roboto"/>
                <a:cs typeface="Roboto"/>
                <a:sym typeface="Roboto"/>
              </a:rPr>
              <a:t>  .fadeIn(300);</a:t>
            </a:r>
            <a:endParaRPr>
              <a:solidFill>
                <a:srgbClr val="2D78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Traversing the DOM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is DOM Traversal in jQuery?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jQuery offers methods to navigate the DOM tree—moving up, down, and sideways through elements.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These methods are useful for dynamically interacting with related elements without relying on complex selectors.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Traversing enables modular code by finding context-specific elements like siblings, parents, or children.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Demonstrate: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How to traverse from one element to its neighbor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Looping through all </a:t>
            </a:r>
            <a:r>
              <a:rPr lang="en" sz="13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elements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Real-time feedback in the console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Traverse the DOM tree to move between related elements.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524125" y="181650"/>
            <a:ext cx="83298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Common Selector Types:</a:t>
            </a:r>
            <a:endParaRPr b="1" sz="1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Parent Element</a:t>
            </a:r>
            <a:r>
              <a:rPr b="1" lang="en" sz="1600">
                <a:solidFill>
                  <a:schemeClr val="lt2"/>
                </a:solidFill>
              </a:rPr>
              <a:t>:</a:t>
            </a:r>
            <a:r>
              <a:rPr lang="en" sz="1600">
                <a:solidFill>
                  <a:schemeClr val="lt2"/>
                </a:solidFill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Child Elements:</a:t>
            </a:r>
            <a:br>
              <a:rPr lang="en" sz="1600">
                <a:solidFill>
                  <a:schemeClr val="lt2"/>
                </a:solidFill>
              </a:rPr>
            </a:br>
            <a:br>
              <a:rPr lang="en" sz="1600">
                <a:solidFill>
                  <a:schemeClr val="lt2"/>
                </a:solidFill>
              </a:rPr>
            </a:b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Siblings:</a:t>
            </a:r>
            <a:br>
              <a:rPr lang="en" sz="1600">
                <a:solidFill>
                  <a:schemeClr val="lt2"/>
                </a:solidFill>
              </a:rPr>
            </a:br>
            <a:br>
              <a:rPr lang="en" sz="1600">
                <a:solidFill>
                  <a:schemeClr val="lt2"/>
                </a:solidFill>
              </a:rPr>
            </a:b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Find Descendants:</a:t>
            </a:r>
            <a:r>
              <a:rPr lang="en" sz="1600">
                <a:solidFill>
                  <a:schemeClr val="lt2"/>
                </a:solidFill>
              </a:rPr>
              <a:t> </a:t>
            </a:r>
            <a:br>
              <a:rPr lang="en" sz="1600">
                <a:solidFill>
                  <a:schemeClr val="lt2"/>
                </a:solidFill>
              </a:rPr>
            </a:br>
            <a:br>
              <a:rPr lang="en" sz="1600">
                <a:solidFill>
                  <a:schemeClr val="lt2"/>
                </a:solidFill>
              </a:rPr>
            </a:br>
            <a:endParaRPr sz="1600">
              <a:solidFill>
                <a:schemeClr val="lt2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Char char="●"/>
            </a:pPr>
            <a:r>
              <a:rPr b="1" lang="en" sz="1600">
                <a:solidFill>
                  <a:srgbClr val="666666"/>
                </a:solidFill>
              </a:rPr>
              <a:t>Looping with .each():</a:t>
            </a:r>
            <a:endParaRPr b="1" sz="1600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3045975" y="655150"/>
            <a:ext cx="2336400" cy="510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$(".item").parent();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3368550" y="3978350"/>
            <a:ext cx="4694700" cy="9678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$(".list li").each(function(index, element) {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console.log(index, $(element).text());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2966900" y="1462125"/>
            <a:ext cx="2336400" cy="510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$(".container").children();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2230625" y="2348850"/>
            <a:ext cx="2782200" cy="4458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$(".selected").next(); 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// or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.prev()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3087700" y="3171375"/>
            <a:ext cx="2336400" cy="510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$("#nav").find("li");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 Manipulation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is DOM Manipulation?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DOM manipulation is the process of changing the document structure, content, and styles using JavaScript—in our case, with jQuery.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jQuery simplifies this with methods to edit text, HTML, values, styles, and element positions.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This is one of jQuery's most powerful features, making it easy to create dynamic web applications.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Demonstrate: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Changing text and input values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Adding new elements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Updating DOM structure interactively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Modify content, structure, and styling of HTML elements using jQuery.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/>
        </p:nvSpPr>
        <p:spPr>
          <a:xfrm>
            <a:off x="524125" y="181650"/>
            <a:ext cx="76410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Text &amp; HTML Content: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Form Values</a:t>
            </a:r>
            <a:r>
              <a:rPr b="1" lang="en">
                <a:solidFill>
                  <a:schemeClr val="lt2"/>
                </a:solidFill>
              </a:rPr>
              <a:t>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Attributes and Props: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DOM Structure: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Char char="●"/>
            </a:pPr>
            <a:r>
              <a:rPr b="1" lang="en">
                <a:solidFill>
                  <a:srgbClr val="666666"/>
                </a:solidFill>
              </a:rPr>
              <a:t>Styling</a:t>
            </a:r>
            <a:endParaRPr b="1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3045975" y="275350"/>
            <a:ext cx="4193100" cy="6285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$("#title").text("Hello");      </a:t>
            </a:r>
            <a:r>
              <a:rPr lang="en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// Plain text</a:t>
            </a:r>
            <a:endParaRPr sz="13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$("#title").html("&lt;b&gt;Hello&lt;/b&gt;"); </a:t>
            </a:r>
            <a:r>
              <a:rPr lang="en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// HTML content</a:t>
            </a:r>
            <a:endParaRPr sz="13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3045975" y="2923600"/>
            <a:ext cx="4193100" cy="9255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$("ul").append("&lt;li&gt;Item&lt;/li&gt;");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$("ul").prepend("&lt;li&gt;First&lt;/li&gt;");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$("li:last").remove();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$(".container").empty(); </a:t>
            </a:r>
            <a:r>
              <a:rPr lang="en" sz="1300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// remove inner HTML</a:t>
            </a:r>
            <a:endParaRPr sz="1300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3045975" y="1188085"/>
            <a:ext cx="4193100" cy="6099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$("#username").val();            </a:t>
            </a:r>
            <a:r>
              <a:rPr lang="en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// Get value</a:t>
            </a:r>
            <a:endParaRPr sz="13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$("#username").val("Gehad");     </a:t>
            </a:r>
            <a:r>
              <a:rPr lang="en" sz="13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// Set value</a:t>
            </a:r>
            <a:endParaRPr sz="13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3411225" y="2082237"/>
            <a:ext cx="3462600" cy="6099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$("img").attr("src", "image.jpg");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$("input").prop("checked", true);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3045975" y="4080575"/>
            <a:ext cx="4193100" cy="8814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$("#box").css("background-color", "blue");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$("#box").addClass("highlight");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$("#box").toggleClass("hidden");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 Handling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is Event Handling in jQuery?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Event handling allows your app to react to user actions such as clicks, key presses, form submissions, or mouse movements.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jQuery simplifies this with intuitive .on() syntax for binding and delegation.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It also provides shorthand methods like .click() or .hover() for basic interactions.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Demonstrate: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Event binding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Dynamic list creation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Delegated event handling for newly added items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Listen and respond to user interactions.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524125" y="181650"/>
            <a:ext cx="76410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Basic Event Binding</a:t>
            </a:r>
            <a:r>
              <a:rPr b="1" lang="en">
                <a:solidFill>
                  <a:schemeClr val="lt2"/>
                </a:solidFill>
              </a:rPr>
              <a:t>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Hover &amp; Focus: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Form Events: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Char char="●"/>
            </a:pPr>
            <a:r>
              <a:rPr b="1" lang="en">
                <a:solidFill>
                  <a:srgbClr val="666666"/>
                </a:solidFill>
              </a:rPr>
              <a:t>Delegated Events:</a:t>
            </a:r>
            <a:endParaRPr b="1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3045975" y="225475"/>
            <a:ext cx="4193100" cy="8154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$("#btn").click(function()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alert("Clicked!");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3045975" y="2492325"/>
            <a:ext cx="4193100" cy="10851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$("form").submit(function(e)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e.preventDefault();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alert("Form submitted!");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3045975" y="1252251"/>
            <a:ext cx="4193100" cy="10287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$("#box").hover(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function() { $(this).addClass("hovered"); },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function() { $(this).removeClass("hovered"); }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3045975" y="3788800"/>
            <a:ext cx="4193100" cy="8814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$("#list").on("click", "li", function()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$(this).toggleClass("done");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Effects &amp; Animations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Are Effects in jQuery?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jQuery offers built-in animation and visual effects like hiding, showing, sliding, and fading elements.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These can enhance UX by adding responsiveness and clarity.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You can also create custom animations using </a:t>
            </a:r>
            <a:r>
              <a:rPr lang="en" sz="1300">
                <a:highlight>
                  <a:srgbClr val="ECECEC"/>
                </a:highlight>
              </a:rPr>
              <a:t>.animate() </a:t>
            </a:r>
            <a:r>
              <a:rPr lang="en" sz="1300"/>
              <a:t>and chain them with </a:t>
            </a:r>
            <a:r>
              <a:rPr lang="en" sz="1300">
                <a:highlight>
                  <a:srgbClr val="ECECEC"/>
                </a:highlight>
              </a:rPr>
              <a:t>.delay()</a:t>
            </a:r>
            <a:r>
              <a:rPr lang="en" sz="1300"/>
              <a:t> or </a:t>
            </a:r>
            <a:r>
              <a:rPr lang="en" sz="1300">
                <a:highlight>
                  <a:srgbClr val="ECECEC"/>
                </a:highlight>
              </a:rPr>
              <a:t>.queue().</a:t>
            </a:r>
            <a:endParaRPr sz="1300">
              <a:highlight>
                <a:srgbClr val="ECECEC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Demonstrate: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of .fadeToggle() and .animate()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Combining effects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Responsive feedback to user actions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jQuery provides powerful visual effects with minimal code.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524125" y="181650"/>
            <a:ext cx="76410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Basic Visibility Controls: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Fade In/Out: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Slide Effects: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Char char="●"/>
            </a:pPr>
            <a:r>
              <a:rPr b="1" lang="en">
                <a:solidFill>
                  <a:srgbClr val="666666"/>
                </a:solidFill>
              </a:rPr>
              <a:t>Custom Animations:</a:t>
            </a:r>
            <a:endParaRPr b="1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3585325" y="181650"/>
            <a:ext cx="4193100" cy="8154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$("#panel").show();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$("#panel").hide();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$("#panel").toggle();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3045975" y="2281825"/>
            <a:ext cx="4193100" cy="6867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$("#menu").slideDown();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$("#menu").slideUp();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3045975" y="1252250"/>
            <a:ext cx="4193100" cy="6867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$("#alert").fadeIn(500);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$("#alert").fadeOut(300);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3045975" y="3175550"/>
            <a:ext cx="4193100" cy="1026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$("#box").animate({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left: "+=100",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opacity: 0.5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}, 800);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/>
        </p:nvSpPr>
        <p:spPr>
          <a:xfrm>
            <a:off x="524125" y="181650"/>
            <a:ext cx="76410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>
                <a:solidFill>
                  <a:schemeClr val="lt2"/>
                </a:solidFill>
              </a:rPr>
            </a:br>
            <a:r>
              <a:rPr b="1" lang="en">
                <a:solidFill>
                  <a:schemeClr val="lt2"/>
                </a:solidFill>
              </a:rPr>
              <a:t>    </a:t>
            </a:r>
            <a:br>
              <a:rPr b="1" lang="en">
                <a:solidFill>
                  <a:schemeClr val="lt2"/>
                </a:solidFill>
              </a:rPr>
            </a:br>
            <a:br>
              <a:rPr b="1" lang="en">
                <a:solidFill>
                  <a:schemeClr val="lt2"/>
                </a:solidFill>
              </a:rPr>
            </a:br>
            <a:r>
              <a:rPr b="1" lang="en">
                <a:solidFill>
                  <a:schemeClr val="lt2"/>
                </a:solidFill>
              </a:rPr>
              <a:t>  Queueing Effects: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   Used to enhance UX with interactive transitions and visual feedback.</a:t>
            </a:r>
            <a:endParaRPr b="1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3611650" y="484225"/>
            <a:ext cx="4193100" cy="12705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$("#popup")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.fadeIn(200)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.delay(1000)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.fadeOut(200);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AJAX with jQuery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is jQuery AJAX?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AJAX (Asynchronous JavaScript and XML) allows you to fetch data from the server and update the page dynamically—without a full reload.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jQuery wraps AJAX functionality into easy-to-use methods like </a:t>
            </a:r>
            <a:r>
              <a:rPr lang="en" sz="1400"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.get()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00"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.post()</a:t>
            </a:r>
            <a:r>
              <a:rPr lang="en" sz="1400">
                <a:highlight>
                  <a:srgbClr val="ECECEC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400"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.ajax()</a:t>
            </a:r>
            <a:r>
              <a:rPr lang="en" sz="1400">
                <a:highlight>
                  <a:srgbClr val="ECECEC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highlight>
                <a:srgbClr val="ECECE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It's especially helpful when working with APIs or submitting forms in the background.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Demonstrate: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Making GET requests to a public API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Updating the UI with fetched data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Working with asynchronous flow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Make asynchronous HTTP requests without reloading the page.</a:t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/>
        </p:nvSpPr>
        <p:spPr>
          <a:xfrm>
            <a:off x="524125" y="181650"/>
            <a:ext cx="76410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GET Request (fetch data):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POST Request (send data):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 b="1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3585325" y="378975"/>
            <a:ext cx="4073400" cy="10260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$.get("https://jsonplaceholder.typicode.com/users", function(data)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console.log(data);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3525475" y="2401116"/>
            <a:ext cx="4193100" cy="11703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$.post("/api/submit", { name: "Gehad" }, function(response)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console.log("Submitted", response);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/>
        </p:nvSpPr>
        <p:spPr>
          <a:xfrm>
            <a:off x="524125" y="181650"/>
            <a:ext cx="7641000" cy="4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Generic AJAX Call: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Loading Indicator Example:</a:t>
            </a: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br>
              <a:rPr lang="en">
                <a:solidFill>
                  <a:schemeClr val="lt2"/>
                </a:solidFill>
              </a:rPr>
            </a:br>
            <a:endParaRPr b="1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</a:rPr>
              <a:t>AJAX helps dynamically update parts of a web page without full reload.</a:t>
            </a:r>
            <a:endParaRPr b="1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3782675" y="181650"/>
            <a:ext cx="4073400" cy="23901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$.ajax({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url: "/api/items",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method: "GET",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dataType: "json",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success: function(result)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console.log(result);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},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error: function(xhr, status, error)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console.error("Error:", status);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}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3722825" y="2822100"/>
            <a:ext cx="4193100" cy="13191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9525">
              <a:srgbClr val="ECECEC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$("#loader").show();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$.get("/data", function(data) {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$("#loader").hide();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$("#output").html(data);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jQuery Best Practices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Wrap your logic with </a:t>
            </a:r>
            <a:r>
              <a:rPr lang="en" sz="2000">
                <a:solidFill>
                  <a:srgbClr val="666666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$(document).ready()</a:t>
            </a:r>
            <a:endParaRPr sz="2000">
              <a:solidFill>
                <a:srgbClr val="666666"/>
              </a:solidFill>
              <a:highlight>
                <a:srgbClr val="ECECEC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Minimize DOM querie</a:t>
            </a:r>
            <a:r>
              <a:rPr lang="en" sz="2000" u="sng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 by caching selectors:</a:t>
            </a:r>
            <a:br>
              <a:rPr lang="en" sz="2000" u="sng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sz="2000">
                <a:solidFill>
                  <a:srgbClr val="666666"/>
                </a:solidFill>
                <a:highlight>
                  <a:srgbClr val="ECECEC"/>
                </a:highlight>
                <a:latin typeface="Arial"/>
                <a:ea typeface="Arial"/>
                <a:cs typeface="Arial"/>
                <a:sym typeface="Arial"/>
              </a:rPr>
              <a:t>const $list = $("#myList");</a:t>
            </a:r>
            <a:endParaRPr sz="2000">
              <a:solidFill>
                <a:srgbClr val="666666"/>
              </a:solidFill>
              <a:highlight>
                <a:srgbClr val="ECECE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Use e</a:t>
            </a:r>
            <a:r>
              <a:rPr lang="en" sz="2000" u="sng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vent delegation for</a:t>
            </a:r>
            <a:r>
              <a:rPr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dyn</a:t>
            </a:r>
            <a:r>
              <a:rPr lang="en" sz="2000" u="sng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amic elements</a:t>
            </a:r>
            <a:endParaRPr sz="2000" u="sng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Avoid deeply nested chains; keep logic readable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Separate concerns: jQuery for behavior, not data/model logic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460950" y="2065350"/>
            <a:ext cx="8222100" cy="134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Comprehensive Lab </a:t>
            </a:r>
            <a:br>
              <a:rPr lang="en"/>
            </a:br>
            <a:r>
              <a:rPr lang="en"/>
              <a:t> jQuery in Action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Objective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Apply the core jQuery concepts learned (selectors, DOM manipulation, event handling, AJAX) to build a small interactive application that integrates dynamic data and UI responsiveness.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Project Description:</a:t>
            </a: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Build a basic client-side dashboard using jQuery that includes: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dynamic to-do list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live search feature powered by a public API (e.g., user data)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Style and animation interaction</a:t>
            </a: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API Endpoint Used:</a:t>
            </a:r>
            <a:endParaRPr b="1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 u="sng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https://jsonplaceholder.typicode.com/users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→ for live user data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Deliverables</a:t>
            </a:r>
            <a:endParaRPr/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460950" y="1875575"/>
            <a:ext cx="8566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functional task list with: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AutoNum type="alphaLcPeriod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Add, remove, mark as complete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AutoNum type="alphaLcPeriod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Filter: All / Active / Completed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button to fetch and display users from API: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AutoNum type="alphaLcPeriod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Render as list/table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AutoNum type="alphaLcPeriod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Provide search box to filter by name or email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lang="en" sz="16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All UI interactions styled using jQuery (fadeIn, slideToggle, etc.)</a:t>
            </a:r>
            <a:endParaRPr sz="16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Create an HTML layout with the following components: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form to add tasks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section for filter buttons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to display fetched users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Use jQuery to: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Handle user input and bind events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Dynamically update and animate DOM elements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Call AJAX API and display data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Bonus: Style the UI using </a:t>
            </a:r>
            <a:r>
              <a:rPr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.addClass()</a:t>
            </a: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.toggleClass()</a:t>
            </a:r>
            <a:endParaRPr sz="14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2D78AA"/>
              </a:buClr>
              <a:buSzPts val="1700"/>
              <a:buFont typeface="Arial"/>
              <a:buAutoNum type="arabicPeriod"/>
            </a:pPr>
            <a:r>
              <a:rPr lang="en" sz="1700" u="sng">
                <a:solidFill>
                  <a:srgbClr val="2D78AA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Official jQuery Site</a:t>
            </a:r>
            <a:endParaRPr sz="1700" u="sng">
              <a:solidFill>
                <a:srgbClr val="2D78A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D78AA"/>
              </a:buClr>
              <a:buSzPts val="1700"/>
              <a:buFont typeface="Arial"/>
              <a:buAutoNum type="arabicPeriod"/>
            </a:pPr>
            <a:r>
              <a:rPr lang="en" sz="1700" u="sng">
                <a:solidFill>
                  <a:srgbClr val="2D78AA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Documentation</a:t>
            </a:r>
            <a:endParaRPr sz="1700" u="sng">
              <a:solidFill>
                <a:srgbClr val="2D78A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jQuery Cheat Sheet  </a:t>
            </a:r>
            <a:r>
              <a:rPr lang="en" sz="1700" u="sng">
                <a:solidFill>
                  <a:srgbClr val="2D78AA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https://htmlcheatsheet.com/jquery/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258" name="Google Shape;258;p41"/>
          <p:cNvSpPr txBox="1"/>
          <p:nvPr>
            <p:ph idx="1" type="subTitle"/>
          </p:nvPr>
        </p:nvSpPr>
        <p:spPr>
          <a:xfrm>
            <a:off x="1265475" y="2789125"/>
            <a:ext cx="7347300" cy="13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Thank you for participating!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Contact: gehadsamy96@gmail.com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